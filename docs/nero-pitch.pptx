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148840"/>
            <a:ext cx="146304" cy="246888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9659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4F6FB"/>
                </a:solidFill>
                <a:latin typeface="Arial"/>
              </a:rPr>
              <a:t>Nero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3154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DD4BF"/>
                </a:solidFill>
                <a:latin typeface="Arial"/>
              </a:rPr>
              <a:t>The Cash Flow Accelerator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3977639"/>
            <a:ext cx="9509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9CA8BD"/>
                </a:solidFill>
                <a:latin typeface="Arial"/>
              </a:rPr>
              <a:t>Your ledger tells you what you're owed. </a:t>
            </a:r>
            <a:r>
              <a:rPr sz="2000" b="0">
                <a:solidFill>
                  <a:srgbClr val="F4F6FB"/>
                </a:solidFill>
                <a:latin typeface="Arial"/>
              </a:rPr>
              <a:t>Nero tells you when the cash actually arrives — and acts to bring it forward.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8BD"/>
                </a:solidFill>
                <a:latin typeface="Arial"/>
              </a:rPr>
              <a:t>Bounty 03  ·  Xero App &amp; Agent Hackathon  ·  an AR-intelligence agent for Xero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B5CF6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F6FB"/>
                </a:solidFill>
                <a:latin typeface="Arial"/>
              </a:rPr>
              <a:t>Charts track money. They don't get you paid.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4F6FB"/>
                </a:solidFill>
                <a:latin typeface="Arial"/>
              </a:rPr>
              <a:t>Due dates are fiction. </a:t>
            </a:r>
            <a:r>
              <a:rPr sz="2000" b="0">
                <a:solidFill>
                  <a:srgbClr val="9CA8BD"/>
                </a:solidFill>
                <a:latin typeface="Arial"/>
              </a:rPr>
              <a:t>A small business sees what's </a:t>
            </a:r>
            <a:r>
              <a:rPr sz="2000" b="1">
                <a:solidFill>
                  <a:srgbClr val="F4F6FB"/>
                </a:solidFill>
                <a:latin typeface="Arial"/>
              </a:rPr>
              <a:t>due</a:t>
            </a:r>
            <a:r>
              <a:rPr sz="2000" b="0">
                <a:solidFill>
                  <a:srgbClr val="9CA8BD"/>
                </a:solidFill>
                <a:latin typeface="Arial"/>
              </a:rPr>
              <a:t> — not when cash </a:t>
            </a:r>
            <a:r>
              <a:rPr sz="2000" b="1">
                <a:solidFill>
                  <a:srgbClr val="F4F6FB"/>
                </a:solidFill>
                <a:latin typeface="Arial"/>
              </a:rPr>
              <a:t>actually</a:t>
            </a:r>
            <a:r>
              <a:rPr sz="2000" b="0">
                <a:solidFill>
                  <a:srgbClr val="9CA8BD"/>
                </a:solidFill>
                <a:latin typeface="Arial"/>
              </a:rPr>
              <a:t> lands. So they hit cash crunches they could have prevented.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429000"/>
            <a:ext cx="3429000" cy="2468880"/>
          </a:xfrm>
          <a:prstGeom prst="roundRect">
            <a:avLst/>
          </a:prstGeom>
          <a:solidFill>
            <a:srgbClr val="12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7033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CA8BD"/>
                </a:solidFill>
                <a:latin typeface="Arial"/>
              </a:rPr>
              <a:t>DUE NEXT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11480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9CA8BD"/>
                </a:solidFill>
                <a:latin typeface="Arial"/>
              </a:rPr>
              <a:t>£18,000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2578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8BD"/>
                </a:solidFill>
                <a:latin typeface="Arial"/>
              </a:rPr>
              <a:t>what the ledger shows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3429000"/>
            <a:ext cx="3429000" cy="2468880"/>
          </a:xfrm>
          <a:prstGeom prst="roundRect">
            <a:avLst/>
          </a:prstGeom>
          <a:solidFill>
            <a:srgbClr val="12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37033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CA8BD"/>
                </a:solidFill>
                <a:latin typeface="Arial"/>
              </a:rPr>
              <a:t>ACTUALLY ARRIVING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411480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8B5CF6"/>
                </a:solidFill>
                <a:latin typeface="Arial"/>
              </a:rPr>
              <a:t>£9,000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52578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8BD"/>
                </a:solidFill>
                <a:latin typeface="Arial"/>
              </a:rPr>
              <a:t>once you price in late payers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429000"/>
            <a:ext cx="3429000" cy="2468880"/>
          </a:xfrm>
          <a:prstGeom prst="roundRect">
            <a:avLst/>
          </a:prstGeom>
          <a:solidFill>
            <a:srgbClr val="12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37033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CA8BD"/>
                </a:solidFill>
                <a:latin typeface="Arial"/>
              </a:rPr>
              <a:t>THE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114800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87171"/>
                </a:solidFill>
                <a:latin typeface="Arial"/>
              </a:rPr>
              <a:t>£9,000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52578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8BD"/>
                </a:solidFill>
                <a:latin typeface="Arial"/>
              </a:rPr>
              <a:t>invisible until it's a crisis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B5CF6"/>
                </a:solidFill>
                <a:latin typeface="Arial"/>
              </a:rPr>
              <a:t>THE PRODUCT  ·  TRUTH →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5577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F6FB"/>
                </a:solidFill>
                <a:latin typeface="Arial"/>
              </a:rPr>
              <a:t>See the real cash picture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91440" cy="960120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4F6FB"/>
                </a:solidFill>
                <a:latin typeface="Arial"/>
              </a:rPr>
              <a:t>Reads your Xero ledger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400" b="0">
                <a:solidFill>
                  <a:srgbClr val="9CA8BD"/>
                </a:solidFill>
                <a:latin typeface="Arial"/>
              </a:rPr>
              <a:t>Contacts, invoices and payment history — no manual entry.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46120"/>
            <a:ext cx="91440" cy="960120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4F6FB"/>
                </a:solidFill>
                <a:latin typeface="Arial"/>
              </a:rPr>
              <a:t>Predicts real payment dates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400" b="0">
                <a:solidFill>
                  <a:srgbClr val="9CA8BD"/>
                </a:solidFill>
                <a:latin typeface="Arial"/>
              </a:rPr>
              <a:t>Each customer's own behaviour, not the due 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80560"/>
            <a:ext cx="91440" cy="960120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4F6FB"/>
                </a:solidFill>
                <a:latin typeface="Arial"/>
              </a:rPr>
              <a:t>Forecasts against a floor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400" b="0">
                <a:solidFill>
                  <a:srgbClr val="9CA8BD"/>
                </a:solidFill>
                <a:latin typeface="Arial"/>
              </a:rPr>
              <a:t>Flags the exact week cash dips below your minimum.</a:t>
            </a:r>
          </a:p>
        </p:txBody>
      </p:sp>
      <p:pic>
        <p:nvPicPr>
          <p:cNvPr id="11" name="Picture 10" descr="crop-d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2326"/>
            <a:ext cx="5029200" cy="5221986"/>
          </a:xfrm>
          <a:prstGeom prst="rect">
            <a:avLst/>
          </a:prstGeom>
          <a:ln w="12700">
            <a:solidFill>
              <a:srgbClr val="2A3348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B5CF6"/>
                </a:solidFill>
                <a:latin typeface="Arial"/>
              </a:rPr>
              <a:t>THE AGENT  ·  ACTION, WITH YOUR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5577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4F6FB"/>
                </a:solidFill>
                <a:latin typeface="Arial"/>
              </a:rPr>
              <a:t>An agent that acts —
you stay in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5394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CA8BD"/>
                </a:solidFill>
                <a:latin typeface="Arial"/>
              </a:rPr>
              <a:t>Nero proposes the specific moves — </a:t>
            </a:r>
            <a:r>
              <a:rPr sz="1600" b="1">
                <a:solidFill>
                  <a:srgbClr val="F4F6FB"/>
                </a:solidFill>
                <a:latin typeface="Arial"/>
              </a:rPr>
              <a:t>chase this invoice, ask a deposit there, tighten terms</a:t>
            </a:r>
            <a:r>
              <a:rPr sz="1600" b="0">
                <a:solidFill>
                  <a:srgbClr val="9CA8BD"/>
                </a:solidFill>
                <a:latin typeface="Arial"/>
              </a:rPr>
              <a:t> — each tagged with the £ it brings forward. </a:t>
            </a:r>
            <a:r>
              <a:rPr sz="1600" b="1">
                <a:solidFill>
                  <a:srgbClr val="2DD4BF"/>
                </a:solidFill>
                <a:latin typeface="Arial"/>
              </a:rPr>
              <a:t>You approve; nothing sends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754880"/>
            <a:ext cx="5394960" cy="1280160"/>
          </a:xfrm>
          <a:prstGeom prst="roundRect">
            <a:avLst/>
          </a:prstGeom>
          <a:solidFill>
            <a:srgbClr val="12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983480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DD4BF"/>
                </a:solidFill>
                <a:latin typeface="Arial"/>
              </a:rPr>
              <a:t>£13,000</a:t>
            </a:r>
            <a:r>
              <a:rPr sz="1600" b="0">
                <a:solidFill>
                  <a:srgbClr val="F4F6FB"/>
                </a:solidFill>
                <a:latin typeface="Arial"/>
              </a:rPr>
              <a:t>  ready to bring forward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300" b="0">
                <a:solidFill>
                  <a:srgbClr val="9CA8BD"/>
                </a:solidFill>
                <a:latin typeface="Arial"/>
              </a:rPr>
              <a:t>~12 days sooner, across 7 approval-gated actions</a:t>
            </a:r>
          </a:p>
        </p:txBody>
      </p:sp>
      <p:pic>
        <p:nvPicPr>
          <p:cNvPr id="8" name="Picture 7" descr="crop-a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18513"/>
            <a:ext cx="5120640" cy="4369612"/>
          </a:xfrm>
          <a:prstGeom prst="rect">
            <a:avLst/>
          </a:prstGeom>
          <a:ln w="12700">
            <a:solidFill>
              <a:srgbClr val="2A3348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B5CF6"/>
                </a:solidFill>
                <a:latin typeface="Arial"/>
              </a:rPr>
              <a:t>PAYER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4F6FB"/>
                </a:solidFill>
                <a:latin typeface="Arial"/>
              </a:rPr>
              <a:t>Know exactly who's slowing your cash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8BD"/>
                </a:solidFill>
                <a:latin typeface="Arial"/>
              </a:rPr>
              <a:t>Every customer graded on their real payment behaviour, ranked by cash at risk — </a:t>
            </a:r>
            <a:r>
              <a:rPr sz="1500" b="1">
                <a:solidFill>
                  <a:srgbClr val="F4F6FB"/>
                </a:solidFill>
                <a:latin typeface="Arial"/>
              </a:rPr>
              <a:t>who to chase first.</a:t>
            </a:r>
          </a:p>
        </p:txBody>
      </p:sp>
      <p:pic>
        <p:nvPicPr>
          <p:cNvPr id="6" name="Picture 5" descr="crop-pay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437" y="2423160"/>
            <a:ext cx="6292645" cy="4114800"/>
          </a:xfrm>
          <a:prstGeom prst="rect">
            <a:avLst/>
          </a:prstGeom>
          <a:ln w="12700">
            <a:solidFill>
              <a:srgbClr val="2A3348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B5CF6"/>
                </a:solidFill>
                <a:latin typeface="Arial"/>
              </a:rPr>
              <a:t>WHY NERO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4F6FB"/>
                </a:solidFill>
                <a:latin typeface="Arial"/>
              </a:rPr>
              <a:t>Accountable by design, built the Xero 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474720" cy="3200400"/>
          </a:xfrm>
          <a:prstGeom prst="roundRect">
            <a:avLst/>
          </a:prstGeom>
          <a:solidFill>
            <a:srgbClr val="12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DD4BF"/>
                </a:solidFill>
                <a:latin typeface="Arial"/>
              </a:rPr>
              <a:t>Built the Xero 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8036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9CA8BD"/>
                </a:solidFill>
                <a:latin typeface="Arial"/>
              </a:rPr>
              <a:t>•  Live OAuth to a Xero organisation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9CA8BD"/>
                </a:solidFill>
                <a:latin typeface="Arial"/>
              </a:rPr>
              <a:t>•  Reads contacts, invoices, payments +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9CA8BD"/>
                </a:solidFill>
                <a:latin typeface="Arial"/>
              </a:rPr>
              <a:t>•     online invoice links (Accounting API)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9CA8BD"/>
                </a:solidFill>
                <a:latin typeface="Arial"/>
              </a:rPr>
              <a:t>•  Approved reminders write a history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9CA8BD"/>
                </a:solidFill>
                <a:latin typeface="Arial"/>
              </a:rPr>
              <a:t>•     note back to the invoice in Xero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011680"/>
            <a:ext cx="3474720" cy="3200400"/>
          </a:xfrm>
          <a:prstGeom prst="roundRect">
            <a:avLst/>
          </a:prstGeom>
          <a:solidFill>
            <a:srgbClr val="12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2402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B5CF6"/>
                </a:solidFill>
                <a:latin typeface="Arial"/>
              </a:rPr>
              <a:t>Accountable by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88036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9CA8BD"/>
                </a:solidFill>
                <a:latin typeface="Arial"/>
              </a:rPr>
              <a:t>•  Every action is approval-gated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9CA8BD"/>
                </a:solidFill>
                <a:latin typeface="Arial"/>
              </a:rPr>
              <a:t>•  Reasoning shown, grounded in real stats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9CA8BD"/>
                </a:solidFill>
                <a:latin typeface="Arial"/>
              </a:rPr>
              <a:t>•  Nothing sends automatically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9CA8BD"/>
                </a:solidFill>
                <a:latin typeface="Arial"/>
              </a:rPr>
              <a:t>•  "Cash Accelerated £" = measurable outcome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011680"/>
            <a:ext cx="3474720" cy="3200400"/>
          </a:xfrm>
          <a:prstGeom prst="roundRect">
            <a:avLst/>
          </a:prstGeom>
          <a:solidFill>
            <a:srgbClr val="12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2402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6FB"/>
                </a:solidFill>
                <a:latin typeface="Arial"/>
              </a:rPr>
              <a:t>Validated demand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88036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9CA8BD"/>
                </a:solidFill>
                <a:latin typeface="Arial"/>
              </a:rPr>
              <a:t>•  Payment-performance report: 351 forum votes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9CA8BD"/>
                </a:solidFill>
                <a:latin typeface="Arial"/>
              </a:rPr>
              <a:t>•  Deposits on invoices: 507 votes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9CA8BD"/>
                </a:solidFill>
                <a:latin typeface="Arial"/>
              </a:rPr>
              <a:t>•  …both unbuilt by Xero today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9CA8BD"/>
                </a:solidFill>
                <a:latin typeface="Arial"/>
              </a:rPr>
              <a:t>•  Chases + forecasts in one loop (nobody else)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F6FB"/>
                </a:solidFill>
                <a:latin typeface="Arial"/>
              </a:rPr>
              <a:t>What's next:  </a:t>
            </a:r>
            <a:r>
              <a:rPr sz="1400" b="0">
                <a:solidFill>
                  <a:srgbClr val="9CA8BD"/>
                </a:solidFill>
                <a:latin typeface="Arial"/>
              </a:rPr>
              <a:t>outcome learning  ·  SMS / multi-channel reminders  ·  multi-client advisor 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6263640"/>
            <a:ext cx="10543032" cy="54864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